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Krona One"/>
      <p:regular r:id="rId201314"/>
    </p:embeddedFont>
    <p:embeddedFont>
      <p:font typeface="Lexend"/>
      <p:regular r:id="rId201315"/>
    </p:embeddedFont>
    <p:embeddedFont>
      <p:font typeface="Lexend Medium"/>
      <p:regular r:id="rId201316"/>
    </p:embeddedFont>
    <p:embeddedFont>
      <p:font typeface="Lexend Bold"/>
      <p:regular r:id="rId201317"/>
    </p:embeddedFont>
    <p:embeddedFont>
      <p:font typeface="Martian Mono Medium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B.Tech final-year viva presentation: an AI-based plagiarism detection framework designed specifically for short text documents using semantic similarity and NLP.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core limitation of legacy tools: string matching looks only for verbatim words. Our semantic solution evaluates contextual meaning through NLP embeddings.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 the five key objectives: short-text optimization, preprocessing rigor, semantic contextual embeddings, granular highlighting, and defensible audit reporting.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architecture in two passes: preprocessing and embedding (top row), followed by database correlation, scoring, thresholding, and reporting (bottom row).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Detail each preprocessing stage: extraction, case folding, tokenization, stop-word removal, and lemmatization to ensure vector models receive clean syntactic units.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how embeddings represent text and how cosine similarity compares vector direction to identify semantic similarity.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the threshold-based workflow from user input through report generation. The 82% similarity score is an example/demo value only, not an experimental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Demonstrate how the examiner dashboard breaks down overall document similarity into transparent, sentence-by-sentence evidence rows with specific matched citations.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advantages, applications, and future scope for semantic plagiarism detection.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Conclude the viva presentation: reiterate that semantic comparison provides defensible, interpretable evidence, and invite questions from the panel.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3" Type="http://schemas.openxmlformats.org/officeDocument/2006/relationships/image" Target="../media/image-1002-3.png"/><Relationship Id="rId5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3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4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jpeg"/><Relationship Id="rId2" Type="http://schemas.openxmlformats.org/officeDocument/2006/relationships/image" Target="../media/image-1004-2.png"/><Relationship Id="rId3" Type="http://schemas.openxmlformats.org/officeDocument/2006/relationships/image" Target="../media/image-1002-3.png"/><Relationship Id="rId5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1515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2" descr="preencoded.png">
            <a:hlinkClick r:id="rId4" tooltip="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1515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1515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2" descr="preencoded.png">
            <a:hlinkClick r:id="rId4" tooltip="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4489" y="2198191"/>
            <a:ext cx="5435464" cy="14811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spc="-36" kern="100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AI-Based Plagiarism</a:t>
            </a:r>
            <a:endParaRPr lang="en-US" sz="36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3600" spc="-36" kern="100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Detection System</a:t>
            </a:r>
            <a:endParaRPr lang="en-US"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78" kern="100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31466"/>
            <a:ext cx="10972526" cy="408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800" spc="-14" kern="100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Exact matching misses rewritten plagiarism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9585" y="1641971"/>
            <a:ext cx="11582110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Digital assignments, reports, and online content are expanding rapidly.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09585" y="2289175"/>
            <a:ext cx="5257668" cy="2244130"/>
          </a:xfrm>
          <a:prstGeom prst="roundRect">
            <a:avLst>
              <a:gd name="adj" fmla="val 6791"/>
            </a:avLst>
          </a:prstGeom>
          <a:noFill/>
          <a:ln w="19050">
            <a:solidFill>
              <a:srgbClr val="2878FF"/>
            </a:solidFill>
            <a:prstDash val="solid"/>
          </a:ln>
          <a:effectLst>
            <a:outerShdw sx="100000" sy="100000" kx="0" ky="0" algn="bl" rotWithShape="0" blurRad="201930" dist="127" dir="16200000">
              <a:srgbClr val="2878ff">
                <a:alpha val="4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8634" y="2308225"/>
            <a:ext cx="3921920" cy="22060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9585" y="4711105"/>
            <a:ext cx="5257668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78" kern="100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CONVENTIONAL STRING MATCH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09585" y="5086945"/>
            <a:ext cx="5257668" cy="925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Traditional tools compare exact words or phrases; paraphrased or rewritten passages can evade word matching.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324442" y="2289175"/>
            <a:ext cx="5257668" cy="2244130"/>
          </a:xfrm>
          <a:prstGeom prst="roundRect">
            <a:avLst>
              <a:gd name="adj" fmla="val 6791"/>
            </a:avLst>
          </a:prstGeom>
          <a:noFill/>
          <a:ln w="19050">
            <a:solidFill>
              <a:srgbClr val="FF9347"/>
            </a:solidFill>
            <a:prstDash val="solid"/>
          </a:ln>
          <a:effectLst>
            <a:outerShdw sx="100000" sy="100000" kx="0" ky="0" algn="bl" rotWithShape="0" blurRad="201930" dist="127" dir="16200000">
              <a:srgbClr val="ff9347">
                <a:alpha val="3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3491" y="2308225"/>
            <a:ext cx="3921920" cy="220603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24442" y="4711105"/>
            <a:ext cx="5257668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78" kern="100" dirty="0">
                <a:solidFill>
                  <a:srgbClr val="FF9347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PROPOSED SEMANTIC NLP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6324442" y="5086945"/>
            <a:ext cx="5257668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NLP plus semantic similarity compares meaning and context.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0990" y="304800"/>
            <a:ext cx="8153196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78" kern="100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PROJECT OBJECTIVES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380990" y="626666"/>
            <a:ext cx="7848404" cy="1226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800" spc="-14" kern="100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The system turns originality checking into a repeatable workflow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80990" y="2154932"/>
            <a:ext cx="7848404" cy="3185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487680" indent="-487680">
              <a:lnSpc>
                <a:spcPct val="113000"/>
              </a:lnSpc>
              <a:buSzPct val="100000"/>
              <a:buChar char="•"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Detect plagiarism in short text documents.</a:t>
            </a:r>
            <a:endParaRPr lang="en-US" sz="2400" dirty="0"/>
          </a:p>
          <a:p>
            <a:pPr algn="l" marL="487680" indent="-487680">
              <a:lnSpc>
                <a:spcPct val="113000"/>
              </a:lnSpc>
              <a:buSzPct val="100000"/>
              <a:buChar char="•"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Prepare text with NLP preprocessing.</a:t>
            </a:r>
            <a:endParaRPr lang="en-US" sz="2400" dirty="0"/>
          </a:p>
          <a:p>
            <a:pPr algn="l" marL="487680" indent="-487680">
              <a:lnSpc>
                <a:spcPct val="113000"/>
              </a:lnSpc>
              <a:buSzPct val="100000"/>
              <a:buChar char="•"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Compare sentence meaning, not only vocabulary.</a:t>
            </a:r>
            <a:endParaRPr lang="en-US" sz="2400" dirty="0"/>
          </a:p>
          <a:p>
            <a:pPr algn="l" marL="487680" indent="-487680">
              <a:lnSpc>
                <a:spcPct val="113000"/>
              </a:lnSpc>
              <a:buSzPct val="100000"/>
              <a:buChar char="•"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Generate similarity scores and highlight suspicious passages.</a:t>
            </a:r>
            <a:endParaRPr lang="en-US" sz="2400" dirty="0"/>
          </a:p>
          <a:p>
            <a:pPr algn="l" marL="487680" indent="-487680">
              <a:lnSpc>
                <a:spcPct val="113000"/>
              </a:lnSpc>
              <a:buSzPct val="100000"/>
              <a:buChar char="•"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Produce a report that reduces manual checking and supports academic integrity.</a:t>
            </a:r>
            <a:endParaRPr lang="en-US" sz="2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34187" y="0"/>
            <a:ext cx="365750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78" kern="100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31466"/>
            <a:ext cx="10972526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spc="-12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From uploaded text to a defensible plagiarism report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09585" y="2018308"/>
            <a:ext cx="78748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400" dirty="0">
                <a:solidFill>
                  <a:srgbClr val="69A1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92272" y="2024658"/>
            <a:ext cx="4774981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spc="-10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Input text or uploaded document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324442" y="2018308"/>
            <a:ext cx="86407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400" dirty="0">
                <a:solidFill>
                  <a:srgbClr val="69A1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2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883724" y="2024658"/>
            <a:ext cx="4698386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spc="-10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Text extraction and preprocessing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09585" y="2805708"/>
            <a:ext cx="86407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400" dirty="0">
                <a:solidFill>
                  <a:srgbClr val="69A1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3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168867" y="2812058"/>
            <a:ext cx="4698386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spc="-10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Sentence segmentation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324442" y="2805708"/>
            <a:ext cx="88848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400" dirty="0">
                <a:solidFill>
                  <a:srgbClr val="69A1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4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908131" y="2812058"/>
            <a:ext cx="4673979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spc="-10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NLP feature or text-embedding generation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09585" y="3923308"/>
            <a:ext cx="86407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400" dirty="0">
                <a:solidFill>
                  <a:srgbClr val="69A1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5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168867" y="3929658"/>
            <a:ext cx="4698386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spc="-10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Semantic similarity analysis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324442" y="3923308"/>
            <a:ext cx="88848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400" dirty="0">
                <a:solidFill>
                  <a:srgbClr val="69A1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6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908131" y="3929658"/>
            <a:ext cx="4673979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spc="-10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Similarity score calculation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09585" y="4710708"/>
            <a:ext cx="83837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400" dirty="0">
                <a:solidFill>
                  <a:srgbClr val="69A1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7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143170" y="4717058"/>
            <a:ext cx="4724083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spc="-10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Plagiarism detection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324442" y="4710708"/>
            <a:ext cx="88848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400" dirty="0">
                <a:solidFill>
                  <a:srgbClr val="69A1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8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908131" y="4717058"/>
            <a:ext cx="4673979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spc="-10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Highlighted matches and final report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09585" y="5320308"/>
            <a:ext cx="11582110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spc="14" kern="100" dirty="0">
                <a:solidFill>
                  <a:srgbClr val="B9BEEA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Reference document database feeds the semantic comparison module.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089498" y="2024658"/>
            <a:ext cx="12700" cy="558800"/>
          </a:xfrm>
          <a:prstGeom prst="rect">
            <a:avLst/>
          </a:prstGeom>
          <a:solidFill>
            <a:srgbClr val="27E0E3"/>
          </a:solidFill>
          <a:ln/>
        </p:spPr>
      </p:sp>
      <p:sp>
        <p:nvSpPr>
          <p:cNvPr id="22" name="Shape 20"/>
          <p:cNvSpPr/>
          <p:nvPr/>
        </p:nvSpPr>
        <p:spPr>
          <a:xfrm>
            <a:off x="609585" y="2577108"/>
            <a:ext cx="5486263" cy="12700"/>
          </a:xfrm>
          <a:prstGeom prst="rect">
            <a:avLst/>
          </a:prstGeom>
          <a:solidFill>
            <a:srgbClr val="27E0E3"/>
          </a:solidFill>
          <a:ln/>
        </p:spPr>
      </p:sp>
      <p:sp>
        <p:nvSpPr>
          <p:cNvPr id="23" name="Shape 21"/>
          <p:cNvSpPr/>
          <p:nvPr/>
        </p:nvSpPr>
        <p:spPr>
          <a:xfrm>
            <a:off x="6089498" y="2583458"/>
            <a:ext cx="12700" cy="1117600"/>
          </a:xfrm>
          <a:prstGeom prst="rect">
            <a:avLst/>
          </a:prstGeom>
          <a:solidFill>
            <a:srgbClr val="27E0E3"/>
          </a:solidFill>
          <a:ln/>
        </p:spPr>
      </p:sp>
      <p:sp>
        <p:nvSpPr>
          <p:cNvPr id="24" name="Shape 22"/>
          <p:cNvSpPr/>
          <p:nvPr/>
        </p:nvSpPr>
        <p:spPr>
          <a:xfrm>
            <a:off x="6095848" y="2577108"/>
            <a:ext cx="5486263" cy="12700"/>
          </a:xfrm>
          <a:prstGeom prst="rect">
            <a:avLst/>
          </a:prstGeom>
          <a:solidFill>
            <a:srgbClr val="27E0E3"/>
          </a:solidFill>
          <a:ln/>
        </p:spPr>
      </p:sp>
      <p:sp>
        <p:nvSpPr>
          <p:cNvPr id="25" name="Shape 23"/>
          <p:cNvSpPr/>
          <p:nvPr/>
        </p:nvSpPr>
        <p:spPr>
          <a:xfrm>
            <a:off x="609585" y="3694708"/>
            <a:ext cx="5486263" cy="12700"/>
          </a:xfrm>
          <a:prstGeom prst="rect">
            <a:avLst/>
          </a:prstGeom>
          <a:solidFill>
            <a:srgbClr val="27E0E3"/>
          </a:solidFill>
          <a:ln/>
        </p:spPr>
      </p:sp>
      <p:sp>
        <p:nvSpPr>
          <p:cNvPr id="26" name="Shape 24"/>
          <p:cNvSpPr/>
          <p:nvPr/>
        </p:nvSpPr>
        <p:spPr>
          <a:xfrm>
            <a:off x="6089498" y="3701058"/>
            <a:ext cx="12700" cy="787400"/>
          </a:xfrm>
          <a:prstGeom prst="rect">
            <a:avLst/>
          </a:prstGeom>
          <a:solidFill>
            <a:srgbClr val="27E0E3"/>
          </a:solidFill>
          <a:ln/>
        </p:spPr>
      </p:sp>
      <p:sp>
        <p:nvSpPr>
          <p:cNvPr id="27" name="Shape 25"/>
          <p:cNvSpPr/>
          <p:nvPr/>
        </p:nvSpPr>
        <p:spPr>
          <a:xfrm>
            <a:off x="6095848" y="3694708"/>
            <a:ext cx="5486263" cy="12700"/>
          </a:xfrm>
          <a:prstGeom prst="rect">
            <a:avLst/>
          </a:prstGeom>
          <a:solidFill>
            <a:srgbClr val="27E0E3"/>
          </a:solidFill>
          <a:ln/>
        </p:spPr>
      </p:sp>
      <p:sp>
        <p:nvSpPr>
          <p:cNvPr id="28" name="Shape 26"/>
          <p:cNvSpPr/>
          <p:nvPr/>
        </p:nvSpPr>
        <p:spPr>
          <a:xfrm>
            <a:off x="609585" y="4482108"/>
            <a:ext cx="5486263" cy="12700"/>
          </a:xfrm>
          <a:prstGeom prst="rect">
            <a:avLst/>
          </a:prstGeom>
          <a:solidFill>
            <a:srgbClr val="27E0E3"/>
          </a:solidFill>
          <a:ln/>
        </p:spPr>
      </p:sp>
      <p:sp>
        <p:nvSpPr>
          <p:cNvPr id="29" name="Shape 27"/>
          <p:cNvSpPr/>
          <p:nvPr/>
        </p:nvSpPr>
        <p:spPr>
          <a:xfrm>
            <a:off x="6089498" y="4488458"/>
            <a:ext cx="12700" cy="558800"/>
          </a:xfrm>
          <a:prstGeom prst="rect">
            <a:avLst/>
          </a:prstGeom>
          <a:solidFill>
            <a:srgbClr val="27E0E3"/>
          </a:solidFill>
          <a:ln/>
        </p:spPr>
      </p:sp>
      <p:sp>
        <p:nvSpPr>
          <p:cNvPr id="30" name="Shape 28"/>
          <p:cNvSpPr/>
          <p:nvPr/>
        </p:nvSpPr>
        <p:spPr>
          <a:xfrm>
            <a:off x="6095848" y="4482108"/>
            <a:ext cx="5486263" cy="12700"/>
          </a:xfrm>
          <a:prstGeom prst="rect">
            <a:avLst/>
          </a:prstGeom>
          <a:solidFill>
            <a:srgbClr val="27E0E3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454150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78" kern="100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DATA PIPELINE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1776016"/>
            <a:ext cx="10972526" cy="408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800" spc="-14" kern="100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Preprocessing makes comparison efficient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9585" y="2486521"/>
            <a:ext cx="106707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400" dirty="0">
                <a:solidFill>
                  <a:srgbClr val="69A1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01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09585" y="2913261"/>
            <a:ext cx="3428914" cy="19050"/>
          </a:xfrm>
          <a:prstGeom prst="rect">
            <a:avLst/>
          </a:prstGeom>
          <a:solidFill>
            <a:srgbClr val="2878FF"/>
          </a:solidFill>
          <a:ln/>
        </p:spPr>
      </p:sp>
      <p:sp>
        <p:nvSpPr>
          <p:cNvPr id="6" name="Text 4"/>
          <p:cNvSpPr/>
          <p:nvPr/>
        </p:nvSpPr>
        <p:spPr>
          <a:xfrm>
            <a:off x="609585" y="3056136"/>
            <a:ext cx="3428914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spc="-10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Raw text → clean text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495688" y="2486521"/>
            <a:ext cx="114376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400" dirty="0">
                <a:solidFill>
                  <a:srgbClr val="69A1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02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495688" y="2913261"/>
            <a:ext cx="3200320" cy="19050"/>
          </a:xfrm>
          <a:prstGeom prst="rect">
            <a:avLst/>
          </a:prstGeom>
          <a:solidFill>
            <a:srgbClr val="2878FF"/>
          </a:solidFill>
          <a:ln/>
        </p:spPr>
      </p:sp>
      <p:sp>
        <p:nvSpPr>
          <p:cNvPr id="9" name="Text 7"/>
          <p:cNvSpPr/>
          <p:nvPr/>
        </p:nvSpPr>
        <p:spPr>
          <a:xfrm>
            <a:off x="4495688" y="3056136"/>
            <a:ext cx="320032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spc="-10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Lowercase conversion and symbol cleanup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153196" y="2486521"/>
            <a:ext cx="114376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400" dirty="0">
                <a:solidFill>
                  <a:srgbClr val="69A1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03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8153196" y="2913261"/>
            <a:ext cx="3428914" cy="19050"/>
          </a:xfrm>
          <a:prstGeom prst="rect">
            <a:avLst/>
          </a:prstGeom>
          <a:solidFill>
            <a:srgbClr val="2878FF"/>
          </a:solidFill>
          <a:ln/>
        </p:spPr>
      </p:sp>
      <p:sp>
        <p:nvSpPr>
          <p:cNvPr id="12" name="Text 10"/>
          <p:cNvSpPr/>
          <p:nvPr/>
        </p:nvSpPr>
        <p:spPr>
          <a:xfrm>
            <a:off x="8153196" y="3056136"/>
            <a:ext cx="3428914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spc="-10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Tokenization and sentence segmentation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09585" y="4173736"/>
            <a:ext cx="116817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400" dirty="0">
                <a:solidFill>
                  <a:srgbClr val="69A1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04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609585" y="4600476"/>
            <a:ext cx="3428914" cy="19050"/>
          </a:xfrm>
          <a:prstGeom prst="rect">
            <a:avLst/>
          </a:prstGeom>
          <a:solidFill>
            <a:srgbClr val="2878FF"/>
          </a:solidFill>
          <a:ln/>
        </p:spPr>
      </p:sp>
      <p:sp>
        <p:nvSpPr>
          <p:cNvPr id="15" name="Text 13"/>
          <p:cNvSpPr/>
          <p:nvPr/>
        </p:nvSpPr>
        <p:spPr>
          <a:xfrm>
            <a:off x="609585" y="4743351"/>
            <a:ext cx="3428914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spc="-10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Stop-word handling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495688" y="4173736"/>
            <a:ext cx="114376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400" dirty="0">
                <a:solidFill>
                  <a:srgbClr val="69A1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05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4495688" y="4600476"/>
            <a:ext cx="3200320" cy="19050"/>
          </a:xfrm>
          <a:prstGeom prst="rect">
            <a:avLst/>
          </a:prstGeom>
          <a:solidFill>
            <a:srgbClr val="2878FF"/>
          </a:solidFill>
          <a:ln/>
        </p:spPr>
      </p:sp>
      <p:sp>
        <p:nvSpPr>
          <p:cNvPr id="18" name="Text 16"/>
          <p:cNvSpPr/>
          <p:nvPr/>
        </p:nvSpPr>
        <p:spPr>
          <a:xfrm>
            <a:off x="4495688" y="4743351"/>
            <a:ext cx="320032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spc="-10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Lemmatization or stemming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153196" y="4173736"/>
            <a:ext cx="116817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400" dirty="0">
                <a:solidFill>
                  <a:srgbClr val="69A1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06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8153196" y="4600476"/>
            <a:ext cx="3428914" cy="19050"/>
          </a:xfrm>
          <a:prstGeom prst="rect">
            <a:avLst/>
          </a:prstGeom>
          <a:solidFill>
            <a:srgbClr val="2878FF"/>
          </a:solidFill>
          <a:ln/>
        </p:spPr>
      </p:sp>
      <p:sp>
        <p:nvSpPr>
          <p:cNvPr id="21" name="Text 19"/>
          <p:cNvSpPr/>
          <p:nvPr/>
        </p:nvSpPr>
        <p:spPr>
          <a:xfrm>
            <a:off x="8153196" y="4743351"/>
            <a:ext cx="3428914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spc="-10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Feature-ready processed text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78" kern="100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CORE NLP METHODOLOGY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31466"/>
            <a:ext cx="10972526" cy="817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800" spc="-14" kern="100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Semantic similarity compares meaning and context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09585" y="2050852"/>
            <a:ext cx="6400640" cy="4197548"/>
          </a:xfrm>
          <a:prstGeom prst="rect">
            <a:avLst/>
          </a:prstGeom>
          <a:solidFill>
            <a:srgbClr val="1E1F66"/>
          </a:solidFill>
          <a:ln/>
        </p:spPr>
      </p:sp>
      <p:sp>
        <p:nvSpPr>
          <p:cNvPr id="5" name="Text 3"/>
          <p:cNvSpPr/>
          <p:nvPr/>
        </p:nvSpPr>
        <p:spPr>
          <a:xfrm>
            <a:off x="838179" y="2279452"/>
            <a:ext cx="6172046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78" kern="100" dirty="0">
                <a:solidFill>
                  <a:srgbClr val="E6E9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TEXT TO SIMILARITY SCORE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38179" y="2655292"/>
            <a:ext cx="5943451" cy="2871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spcAft>
                <a:spcPts val="1350"/>
              </a:spcAft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Text becomes a numerical representation called an embedding.</a:t>
            </a:r>
            <a:endParaRPr lang="en-US" sz="1800" dirty="0"/>
          </a:p>
          <a:p>
            <a:pPr algn="l" indent="0" marL="0">
              <a:lnSpc>
                <a:spcPct val="113000"/>
              </a:lnSpc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E6E9FF"/>
                </a:solidFill>
                <a:latin typeface="Lexend Bold" pitchFamily="34" charset="0"/>
                <a:ea typeface="Lexend Bold" pitchFamily="34" charset="-122"/>
                <a:cs typeface="Lexend Bold" pitchFamily="34" charset="-120"/>
              </a:rPr>
              <a:t>Sentence A</a:t>
            </a:r>
            <a:pPr algn="l" indent="0" marL="0">
              <a:lnSpc>
                <a:spcPct val="113000"/>
              </a:lnSpc>
              <a:spcAft>
                <a:spcPts val="1350"/>
              </a:spcAft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→ embedding vector</a:t>
            </a:r>
            <a:endParaRPr lang="en-US" sz="1800" dirty="0"/>
          </a:p>
          <a:p>
            <a:pPr algn="l" indent="0" marL="0">
              <a:lnSpc>
                <a:spcPct val="113000"/>
              </a:lnSpc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E6E9FF"/>
                </a:solidFill>
                <a:latin typeface="Lexend Bold" pitchFamily="34" charset="0"/>
                <a:ea typeface="Lexend Bold" pitchFamily="34" charset="-122"/>
                <a:cs typeface="Lexend Bold" pitchFamily="34" charset="-120"/>
              </a:rPr>
              <a:t>Sentence B</a:t>
            </a:r>
            <a:pPr algn="l" indent="0" marL="0">
              <a:lnSpc>
                <a:spcPct val="113000"/>
              </a:lnSpc>
              <a:spcAft>
                <a:spcPts val="1350"/>
              </a:spcAft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→ embedding vector</a:t>
            </a:r>
            <a:endParaRPr lang="en-US" sz="1800" dirty="0"/>
          </a:p>
          <a:p>
            <a:pPr algn="l" indent="0" marL="0">
              <a:lnSpc>
                <a:spcPct val="113000"/>
              </a:lnSpc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E6E9FF"/>
                </a:solidFill>
                <a:latin typeface="Lexend Bold" pitchFamily="34" charset="0"/>
                <a:ea typeface="Lexend Bold" pitchFamily="34" charset="-122"/>
                <a:cs typeface="Lexend Bold" pitchFamily="34" charset="-120"/>
              </a:rPr>
              <a:t>Vectors</a:t>
            </a:r>
            <a:pPr algn="l" indent="0" marL="0">
              <a:lnSpc>
                <a:spcPct val="113000"/>
              </a:lnSpc>
              <a:spcAft>
                <a:spcPts val="1350"/>
              </a:spcAft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→ cosine similarity score</a:t>
            </a:r>
            <a:endParaRPr lang="en-US" sz="180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Cosine similarity compares the direction of two text vectors.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4918" y="2050852"/>
            <a:ext cx="4267192" cy="4197548"/>
          </a:xfrm>
          <a:prstGeom prst="rect">
            <a:avLst/>
          </a:prstGeom>
          <a:solidFill>
            <a:srgbClr val="1E1F66"/>
          </a:solidFill>
          <a:ln/>
        </p:spPr>
      </p:sp>
      <p:sp>
        <p:nvSpPr>
          <p:cNvPr id="8" name="Text 6"/>
          <p:cNvSpPr/>
          <p:nvPr/>
        </p:nvSpPr>
        <p:spPr>
          <a:xfrm>
            <a:off x="7543512" y="2279452"/>
            <a:ext cx="4038598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78" kern="100" dirty="0">
                <a:solidFill>
                  <a:srgbClr val="E6E9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APPROACHES &amp; INTERPRETATION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543512" y="2655292"/>
            <a:ext cx="3810004" cy="1234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Possible approaches: TF-IDF, word embeddings, sentence embeddings, BERT, and Sentence-BERT.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543512" y="4143573"/>
            <a:ext cx="3809905" cy="38100"/>
          </a:xfrm>
          <a:prstGeom prst="roundRect">
            <a:avLst>
              <a:gd name="adj" fmla="val 49999"/>
            </a:avLst>
          </a:prstGeom>
          <a:solidFill>
            <a:srgbClr val="3A3D8C"/>
          </a:solidFill>
          <a:ln/>
        </p:spPr>
      </p:sp>
      <p:sp>
        <p:nvSpPr>
          <p:cNvPr id="11" name="Text 9"/>
          <p:cNvSpPr/>
          <p:nvPr/>
        </p:nvSpPr>
        <p:spPr>
          <a:xfrm>
            <a:off x="7543512" y="4435673"/>
            <a:ext cx="3810004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Score close to 1 → highly similar; score close to 0 → low similarity.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817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800" spc="-14" kern="100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A threshold separates original, similar, and suspicious text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09585" y="1728986"/>
            <a:ext cx="10972526" cy="3825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487680" indent="-487680">
              <a:lnSpc>
                <a:spcPct val="113000"/>
              </a:lnSpc>
              <a:buSzPct val="100000"/>
              <a:buFont typeface="+mj-lt"/>
              <a:buAutoNum type="arabicPeriod" startAt="1"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User enters or uploads text</a:t>
            </a:r>
            <a:endParaRPr lang="en-US" sz="2400" dirty="0"/>
          </a:p>
          <a:p>
            <a:pPr algn="l" marL="487680" indent="-487680">
              <a:lnSpc>
                <a:spcPct val="113000"/>
              </a:lnSpc>
              <a:buSzPct val="100000"/>
              <a:buFont typeface="+mj-lt"/>
              <a:buAutoNum type="arabicPeriod" startAt="2"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Document processing and sentence extraction</a:t>
            </a:r>
            <a:endParaRPr lang="en-US" sz="2400" dirty="0"/>
          </a:p>
          <a:p>
            <a:pPr algn="l" marL="487680" indent="-487680">
              <a:lnSpc>
                <a:spcPct val="113000"/>
              </a:lnSpc>
              <a:buSzPct val="100000"/>
              <a:buFont typeface="+mj-lt"/>
              <a:buAutoNum type="arabicPeriod" startAt="3"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Semantic embedding generation</a:t>
            </a:r>
            <a:endParaRPr lang="en-US" sz="2400" dirty="0"/>
          </a:p>
          <a:p>
            <a:pPr algn="l" marL="487680" indent="-487680">
              <a:lnSpc>
                <a:spcPct val="113000"/>
              </a:lnSpc>
              <a:buSzPct val="100000"/>
              <a:buFont typeface="+mj-lt"/>
              <a:buAutoNum type="arabicPeriod" startAt="4"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Comparison with reference documents</a:t>
            </a:r>
            <a:endParaRPr lang="en-US" sz="2400" dirty="0"/>
          </a:p>
          <a:p>
            <a:pPr algn="l" marL="487680" indent="-487680">
              <a:lnSpc>
                <a:spcPct val="113000"/>
              </a:lnSpc>
              <a:buSzPct val="100000"/>
              <a:buFont typeface="+mj-lt"/>
              <a:buAutoNum type="arabicPeriod" startAt="5"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Similarity scoring</a:t>
            </a:r>
            <a:endParaRPr lang="en-US" sz="2400" dirty="0"/>
          </a:p>
          <a:p>
            <a:pPr algn="l" marL="487680" indent="-487680">
              <a:lnSpc>
                <a:spcPct val="113000"/>
              </a:lnSpc>
              <a:buSzPct val="100000"/>
              <a:buFont typeface="+mj-lt"/>
              <a:buAutoNum type="arabicPeriod" startAt="6"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Threshold-based classification</a:t>
            </a:r>
            <a:endParaRPr lang="en-US" sz="2400" dirty="0"/>
          </a:p>
          <a:p>
            <a:pPr algn="l" marL="487680" indent="-487680">
              <a:lnSpc>
                <a:spcPct val="113000"/>
              </a:lnSpc>
              <a:buSzPct val="100000"/>
              <a:buFont typeface="+mj-lt"/>
              <a:buAutoNum type="arabicPeriod" startAt="7"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Matching or paraphrased content identified</a:t>
            </a:r>
            <a:endParaRPr lang="en-US" sz="2400" dirty="0"/>
          </a:p>
          <a:p>
            <a:pPr algn="l" marL="487680" indent="-487680">
              <a:lnSpc>
                <a:spcPct val="113000"/>
              </a:lnSpc>
              <a:buSzPct val="100000"/>
              <a:buFont typeface="+mj-lt"/>
              <a:buAutoNum type="arabicPeriod" startAt="8"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Plagiarism report generated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09585" y="5827117"/>
            <a:ext cx="11582110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spc="14" kern="100" dirty="0">
                <a:solidFill>
                  <a:srgbClr val="B9BEEA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Similarity Score: 82% — example/demo value only; not an experimental result.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52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spc="60" kern="100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VERIFICATION INTERFACE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9585" y="834529"/>
            <a:ext cx="10972526" cy="313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150" spc="-11" kern="100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A dashboard makes sentence-level evidence visible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609585" y="1326158"/>
            <a:ext cx="11582110" cy="279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185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Auditors inspect aggregate similarity alongside fine-grained, color-coded sentence analysis.</a:t>
            </a:r>
            <a:endParaRPr lang="en-US" sz="1850" dirty="0"/>
          </a:p>
        </p:txBody>
      </p:sp>
      <p:sp>
        <p:nvSpPr>
          <p:cNvPr id="5" name="Shape 3"/>
          <p:cNvSpPr/>
          <p:nvPr/>
        </p:nvSpPr>
        <p:spPr>
          <a:xfrm>
            <a:off x="609585" y="1766193"/>
            <a:ext cx="4206075" cy="5100439"/>
          </a:xfrm>
          <a:prstGeom prst="roundRect">
            <a:avLst>
              <a:gd name="adj" fmla="val 3623"/>
            </a:avLst>
          </a:prstGeom>
          <a:solidFill>
            <a:srgbClr val="1E1F66"/>
          </a:solidFill>
          <a:ln w="19050">
            <a:solidFill>
              <a:srgbClr val="2878FF"/>
            </a:solidFill>
            <a:prstDash val="solid"/>
          </a:ln>
          <a:effectLst>
            <a:outerShdw sx="100000" sy="100000" kx="0" ky="0" algn="bl" rotWithShape="0" blurRad="201930" dist="127" dir="16200000">
              <a:srgbClr val="2878ff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31829" y="1988443"/>
            <a:ext cx="3983831" cy="152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spc="60" kern="100" dirty="0">
                <a:solidFill>
                  <a:srgbClr val="E6E9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INSPECTION SUMMARY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31829" y="2213372"/>
            <a:ext cx="3761586" cy="357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600" spc="-26" kern="100" dirty="0">
                <a:solidFill>
                  <a:srgbClr val="FF9347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82%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31829" y="2749054"/>
            <a:ext cx="3983831" cy="152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spc="60" kern="100" dirty="0">
                <a:solidFill>
                  <a:srgbClr val="FF9347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OVERALL SIMILARITY (DEMO)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31829" y="3078857"/>
            <a:ext cx="3761586" cy="209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1400" b="1" dirty="0">
                <a:solidFill>
                  <a:srgbClr val="E6E9FF"/>
                </a:solidFill>
                <a:latin typeface="Lexend Bold" pitchFamily="34" charset="0"/>
                <a:ea typeface="Lexend Bold" pitchFamily="34" charset="-122"/>
                <a:cs typeface="Lexend Bold" pitchFamily="34" charset="-120"/>
              </a:rPr>
              <a:t>Document:</a:t>
            </a:r>
            <a:pPr algn="l" indent="0" marL="0">
              <a:lnSpc>
                <a:spcPct val="99000"/>
              </a:lnSpc>
              <a:buNone/>
            </a:pPr>
            <a:r>
              <a:rPr lang="en-US" sz="1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project_submission_v2.txt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31829" y="3440609"/>
            <a:ext cx="3761586" cy="209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1400" b="1" dirty="0">
                <a:solidFill>
                  <a:srgbClr val="E6E9FF"/>
                </a:solidFill>
                <a:latin typeface="Lexend Bold" pitchFamily="34" charset="0"/>
                <a:ea typeface="Lexend Bold" pitchFamily="34" charset="-122"/>
                <a:cs typeface="Lexend Bold" pitchFamily="34" charset="-120"/>
              </a:rPr>
              <a:t>Word Count:</a:t>
            </a:r>
            <a:pPr algn="l" indent="0" marL="0">
              <a:lnSpc>
                <a:spcPct val="99000"/>
              </a:lnSpc>
              <a:buNone/>
            </a:pPr>
            <a:r>
              <a:rPr lang="en-US" sz="1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348 words · 14 sentences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31829" y="3802360"/>
            <a:ext cx="3761586" cy="209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1400" b="1" dirty="0">
                <a:solidFill>
                  <a:srgbClr val="E6E9FF"/>
                </a:solidFill>
                <a:latin typeface="Lexend Bold" pitchFamily="34" charset="0"/>
                <a:ea typeface="Lexend Bold" pitchFamily="34" charset="-122"/>
                <a:cs typeface="Lexend Bold" pitchFamily="34" charset="-120"/>
              </a:rPr>
              <a:t>Flagged Sentences:</a:t>
            </a:r>
            <a:pPr algn="l" indent="0" marL="0">
              <a:lnSpc>
                <a:spcPct val="99000"/>
              </a:lnSpc>
              <a:buNone/>
            </a:pPr>
            <a:r>
              <a:rPr lang="en-US" sz="1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9 / 14 (64%)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31829" y="4189512"/>
            <a:ext cx="3761586" cy="354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spc="11" kern="1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Illustrative demo test metrics for evaluation walkthrough.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272749" y="1766193"/>
            <a:ext cx="6309361" cy="5100439"/>
          </a:xfrm>
          <a:prstGeom prst="roundRect">
            <a:avLst>
              <a:gd name="adj" fmla="val 2988"/>
            </a:avLst>
          </a:prstGeom>
          <a:solidFill>
            <a:srgbClr val="1E1F66"/>
          </a:solidFill>
          <a:ln w="19050">
            <a:solidFill>
              <a:srgbClr val="2878FF"/>
            </a:solidFill>
            <a:prstDash val="solid"/>
          </a:ln>
          <a:effectLst>
            <a:outerShdw sx="100000" sy="100000" kx="0" ky="0" algn="bl" rotWithShape="0" blurRad="201930" dist="127" dir="16200000">
              <a:srgbClr val="2878ff">
                <a:alpha val="4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94994" y="1988443"/>
            <a:ext cx="6087116" cy="152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spc="60" kern="100" dirty="0">
                <a:solidFill>
                  <a:srgbClr val="E6E9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SENTENCE-LEVEL AUDIT TRAIL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94994" y="2245221"/>
          <a:ext cx="5864872" cy="914400"/>
        </p:xfrm>
        <a:graphic>
          <a:graphicData uri="http://schemas.openxmlformats.org/drawingml/2006/table">
            <a:tbl>
              <a:tblPr/>
              <a:tblGrid>
                <a:gridCol w="1151504"/>
                <a:gridCol w="2767935"/>
                <a:gridCol w="915766"/>
                <a:gridCol w="1029666"/>
              </a:tblGrid>
              <a:tr h="6185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Sentence</a:t>
                      </a:r>
                      <a:endParaRPr lang="en-US" sz="14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75498" marR="175498" marT="93599" marB="93599" anchor="ctr">
                    <a:lnL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450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6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Submitted Text Analysis</a:t>
                      </a:r>
                      <a:endParaRPr lang="en-US" sz="14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75498" marR="175498" marT="93599" marB="93599" anchor="ctr">
                    <a:lnL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450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6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Sim Score</a:t>
                      </a:r>
                      <a:endParaRPr lang="en-US" sz="14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75498" marR="175498" marT="93599" marB="93599" anchor="ctr">
                    <a:lnL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450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6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Verdict</a:t>
                      </a:r>
                      <a:endParaRPr lang="en-US" sz="14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75498" marR="175498" marT="93599" marB="93599" anchor="ctr">
                    <a:lnL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450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66"/>
                    </a:solidFill>
                  </a:tcPr>
                </a:tc>
              </a:tr>
              <a:tr h="8532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S-01</a:t>
                      </a:r>
                      <a:endParaRPr lang="en-US" sz="14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75498" marR="175498" marT="93599" marB="93599" anchor="ctr">
                    <a:lnL w="19050" cap="flat" cmpd="sng" algn="ctr">
                      <a:solidFill>
                        <a:srgbClr val="47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7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450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450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347">
                        <a:alpha val="1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"Deep neural networks identify patterns in raw data."</a:t>
                      </a:r>
                      <a:endParaRPr lang="en-US" sz="14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75498" marR="175498" marT="93599" marB="93599" anchor="ctr">
                    <a:lnL w="19050" cap="flat" cmpd="sng" algn="ctr">
                      <a:solidFill>
                        <a:srgbClr val="47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7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450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450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347">
                        <a:alpha val="1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94%</a:t>
                      </a:r>
                      <a:endParaRPr lang="en-US" sz="14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75498" marR="175498" marT="93599" marB="93599" anchor="ctr">
                    <a:lnL w="19050" cap="flat" cmpd="sng" algn="ctr">
                      <a:solidFill>
                        <a:srgbClr val="47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7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450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450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347">
                        <a:alpha val="1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A500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Red Flag</a:t>
                      </a:r>
                      <a:endParaRPr lang="en-US" sz="14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75498" marR="175498" marT="93599" marB="93599" anchor="ctr">
                    <a:lnL w="19050" cap="flat" cmpd="sng" algn="ctr">
                      <a:solidFill>
                        <a:srgbClr val="47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7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450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450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347">
                        <a:alpha val="18000"/>
                      </a:srgbClr>
                    </a:solidFill>
                  </a:tcPr>
                </a:tc>
              </a:tr>
              <a:tr h="8532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S-02</a:t>
                      </a:r>
                      <a:endParaRPr lang="en-US" sz="14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75498" marR="175498" marT="93599" marB="93599" anchor="ctr">
                    <a:lnL w="19050" cap="flat" cmpd="sng" algn="ctr">
                      <a:solidFill>
                        <a:srgbClr val="47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7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450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450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347">
                        <a:alpha val="1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"Model convergence depends on tuning learning rates."</a:t>
                      </a:r>
                      <a:endParaRPr lang="en-US" sz="14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75498" marR="175498" marT="93599" marB="93599" anchor="ctr">
                    <a:lnL w="19050" cap="flat" cmpd="sng" algn="ctr">
                      <a:solidFill>
                        <a:srgbClr val="47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7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450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450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347">
                        <a:alpha val="1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87%</a:t>
                      </a:r>
                      <a:endParaRPr lang="en-US" sz="14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75498" marR="175498" marT="93599" marB="93599" anchor="ctr">
                    <a:lnL w="19050" cap="flat" cmpd="sng" algn="ctr">
                      <a:solidFill>
                        <a:srgbClr val="47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7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450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450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347">
                        <a:alpha val="1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A500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Red Flag</a:t>
                      </a:r>
                      <a:endParaRPr lang="en-US" sz="14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75498" marR="175498" marT="93599" marB="93599" anchor="ctr">
                    <a:lnL w="19050" cap="flat" cmpd="sng" algn="ctr">
                      <a:solidFill>
                        <a:srgbClr val="47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7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450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450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347">
                        <a:alpha val="18000"/>
                      </a:srgbClr>
                    </a:solidFill>
                  </a:tcPr>
                </a:tc>
              </a:tr>
              <a:tr h="82786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S-03</a:t>
                      </a:r>
                      <a:endParaRPr lang="en-US" sz="14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75498" marR="175498" marT="93599" marB="93599" anchor="ctr">
                    <a:lnL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450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450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6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"Our methodology collected samples across two lab trials."</a:t>
                      </a:r>
                      <a:endParaRPr lang="en-US" sz="14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75498" marR="175498" marT="93599" marB="93599" anchor="ctr">
                    <a:lnL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450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450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6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52%</a:t>
                      </a:r>
                      <a:endParaRPr lang="en-US" sz="14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75498" marR="175498" marT="93599" marB="93599" anchor="ctr">
                    <a:lnL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450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450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6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FF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Review</a:t>
                      </a:r>
                      <a:endParaRPr lang="en-US" sz="14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75498" marR="175498" marT="93599" marB="93599" anchor="ctr">
                    <a:lnL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450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450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66"/>
                    </a:solidFill>
                  </a:tcPr>
                </a:tc>
              </a:tr>
              <a:tr h="81516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S-04</a:t>
                      </a:r>
                      <a:endParaRPr lang="en-US" sz="14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75498" marR="175498" marT="93599" marB="93599" anchor="ctr">
                    <a:lnL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450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6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"The observed delta in output voltage was 1.4 millivolts."</a:t>
                      </a:r>
                      <a:endParaRPr lang="en-US" sz="14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75498" marR="175498" marT="93599" marB="93599" anchor="ctr">
                    <a:lnL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450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6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18%</a:t>
                      </a:r>
                      <a:endParaRPr lang="en-US" sz="14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75498" marR="175498" marT="93599" marB="93599" anchor="ctr">
                    <a:lnL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450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6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Original</a:t>
                      </a:r>
                      <a:endParaRPr lang="en-US" sz="14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75498" marR="175498" marT="93599" marB="93599" anchor="ctr">
                    <a:lnL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450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66"/>
                    </a:solidFill>
                  </a:tcPr>
                </a:tc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5494994" y="6289576"/>
            <a:ext cx="5864872" cy="354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spc="11" kern="1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Evidence highlighting: Green (&lt;40% original), Yellow (40–75% review), Red (&gt;75% suspicious match).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355600"/>
            <a:ext cx="7264218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78" kern="100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APPLICATION &amp; EVOLUTION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189" y="677466"/>
            <a:ext cx="6807030" cy="1226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800" spc="-14" kern="100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Semantic detection expands where originality checking can work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189" y="2205732"/>
            <a:ext cx="3251119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spc="-10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Advantages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189" y="2755007"/>
            <a:ext cx="3251119" cy="1234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Paraphrase detection; faster analysis; scoring; highlighting; reduced manual verification.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189" y="4262338"/>
            <a:ext cx="3251119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spc="-10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Applications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189" y="4811613"/>
            <a:ext cx="3251119" cy="15428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Schools; colleges; universities; research institutions; online examinations; publishing; report verification.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013100" y="2205732"/>
            <a:ext cx="3251119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spc="-10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Future scope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013100" y="2755007"/>
            <a:ext cx="3251119" cy="2777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Larger documents; internet-wide comparison; multilingual support; PDF/DOCX input; deep-learning analysis; AI-generated-content detection; cloud deployment; mobile access; real-time scanning.</a:t>
            </a:r>
            <a:endParaRPr lang="en-US" sz="18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1407" y="0"/>
            <a:ext cx="44702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7380" y="292100"/>
            <a:ext cx="11404315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78" kern="100" dirty="0">
                <a:solidFill>
                  <a:srgbClr val="FFFF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PROJECT CONCLUSION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87380" y="613966"/>
            <a:ext cx="11070849" cy="932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400" spc="-34" kern="100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Meaning-aware verification for academic integrity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87380" y="1724422"/>
            <a:ext cx="11070849" cy="1234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By pairing NLP preprocessing with dense neural embeddings and cosine similarity, the system detects rewritten and paraphrased plagiarism that bypasses legacy word matching.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87380" y="3212802"/>
            <a:ext cx="11070849" cy="493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spc="-36" kern="100" dirty="0">
                <a:solidFill>
                  <a:srgbClr val="FF9347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87380" y="4008140"/>
            <a:ext cx="1140431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Questions &amp; Discussion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2026-10-03T05:04:46Z</dcterms:created>
  <dcterms:modified xsi:type="dcterms:W3CDTF">2026-10-03T05:04:46Z</dcterms:modified>
</cp:coreProperties>
</file>